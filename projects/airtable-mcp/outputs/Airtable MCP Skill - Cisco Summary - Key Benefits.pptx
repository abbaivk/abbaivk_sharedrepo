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7facb80fcd4e5c" /><Relationship Type="http://schemas.openxmlformats.org/officeDocument/2006/relationships/extended-properties" Target="/docProps/app.xml" Id="Rdd7fa533fdaa44f3" /><Relationship Type="http://schemas.openxmlformats.org/officeDocument/2006/relationships/officeDocument" Target="/ppt/presentation.xml" Id="Ra4c1fc28e63340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125236e91b4d6d"/>
  </p:sldMasterIdLst>
  <p:notesMasterIdLst>
    <p:notesMasterId xmlns:r="http://schemas.openxmlformats.org/officeDocument/2006/relationships" r:id="R014caf02ec064e9b"/>
  </p:notesMasterIdLst>
  <p:sldIdLst>
    <p:sldId xmlns:r="http://schemas.openxmlformats.org/officeDocument/2006/relationships" id="256" r:id="R068fdf41a9374253"/>
    <p:sldId xmlns:r="http://schemas.openxmlformats.org/officeDocument/2006/relationships" id="257" r:id="R31736e2301e241fa"/>
    <p:sldId xmlns:r="http://schemas.openxmlformats.org/officeDocument/2006/relationships" id="258" r:id="R34cb4e4783e3425e"/>
    <p:sldId xmlns:r="http://schemas.openxmlformats.org/officeDocument/2006/relationships" id="259" r:id="R8b5de7b3bd004f95"/>
    <p:sldId xmlns:r="http://schemas.openxmlformats.org/officeDocument/2006/relationships" id="260" r:id="R63754c5b6aeb4456"/>
    <p:sldId xmlns:r="http://schemas.openxmlformats.org/officeDocument/2006/relationships" id="261" r:id="R35f3e44f707c45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512394cf624246" /><Relationship Type="http://schemas.openxmlformats.org/officeDocument/2006/relationships/slideMaster" Target="/ppt/slideMasters/slideMaster1.xml" Id="R5d125236e91b4d6d" /><Relationship Type="http://schemas.openxmlformats.org/officeDocument/2006/relationships/notesMaster" Target="/ppt/notesMasters/notesMaster1.xml" Id="R014caf02ec064e9b" /><Relationship Type="http://schemas.openxmlformats.org/officeDocument/2006/relationships/presProps" Target="/ppt/presProps.xml" Id="Rceb2bb0bfef644a2" /><Relationship Type="http://schemas.openxmlformats.org/officeDocument/2006/relationships/viewProps" Target="/ppt/viewProps.xml" Id="R5cc9498fd4744464" /><Relationship Type="http://schemas.openxmlformats.org/officeDocument/2006/relationships/tableStyles" Target="/ppt/tableStyles.xml" Id="R92519a2129e34560" /><Relationship Type="http://schemas.openxmlformats.org/officeDocument/2006/relationships/slide" Target="/ppt/slides/slide1.xml" Id="R068fdf41a9374253" /><Relationship Type="http://schemas.openxmlformats.org/officeDocument/2006/relationships/slide" Target="/ppt/slides/slide2.xml" Id="R31736e2301e241fa" /><Relationship Type="http://schemas.openxmlformats.org/officeDocument/2006/relationships/slide" Target="/ppt/slides/slide3.xml" Id="R34cb4e4783e3425e" /><Relationship Type="http://schemas.openxmlformats.org/officeDocument/2006/relationships/slide" Target="/ppt/slides/slide4.xml" Id="R8b5de7b3bd004f95" /><Relationship Type="http://schemas.openxmlformats.org/officeDocument/2006/relationships/slide" Target="/ppt/slides/slide5.xml" Id="R63754c5b6aeb4456" /><Relationship Type="http://schemas.openxmlformats.org/officeDocument/2006/relationships/slide" Target="/ppt/slides/slide6.xml" Id="R35f3e44f707c45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7569a824dd4b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0ad886236d4228" /><Relationship Type="http://schemas.openxmlformats.org/officeDocument/2006/relationships/notesMaster" Target="/ppt/notesMasters/notesMaster1.xml" Id="R36b7ef5368b648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5e163006e04914" /><Relationship Type="http://schemas.openxmlformats.org/officeDocument/2006/relationships/notesMaster" Target="/ppt/notesMasters/notesMaster1.xml" Id="R743b78a891614d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662b95e1154a0a" /><Relationship Type="http://schemas.openxmlformats.org/officeDocument/2006/relationships/notesMaster" Target="/ppt/notesMasters/notesMaster1.xml" Id="Rf6101cb0fbe04d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5bf80f09e74928" /><Relationship Type="http://schemas.openxmlformats.org/officeDocument/2006/relationships/notesMaster" Target="/ppt/notesMasters/notesMaster1.xml" Id="Raaf2b765e66c47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ac5dcabb984251" /><Relationship Type="http://schemas.openxmlformats.org/officeDocument/2006/relationships/notesMaster" Target="/ppt/notesMasters/notesMaster1.xml" Id="R6907b9813e664d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a3c7839c5b4f22" /><Relationship Type="http://schemas.openxmlformats.org/officeDocument/2006/relationships/notesMaster" Target="/ppt/notesMasters/notesMaster1.xml" Id="R144dc75f45cc48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171ba016b45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196dc5b8fb4a54" /><Relationship Type="http://schemas.openxmlformats.org/officeDocument/2006/relationships/slideLayout" Target="/ppt/slideLayouts/slideLayout1.xml" Id="Reb6c0458c0fb40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6c0458c0fb40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ad8f6f6664c07" /><Relationship Type="http://schemas.openxmlformats.org/officeDocument/2006/relationships/notesSlide" Target="/ppt/notesSlides/notesSlide1.xml" Id="Rb50ce32a32f547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ecd7692dc43ef" /><Relationship Type="http://schemas.openxmlformats.org/officeDocument/2006/relationships/notesSlide" Target="/ppt/notesSlides/notesSlide2.xml" Id="Rd51e834099f44b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1f44d8e3c4638" /><Relationship Type="http://schemas.openxmlformats.org/officeDocument/2006/relationships/notesSlide" Target="/ppt/notesSlides/notesSlide3.xml" Id="R043fcdb9a78842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94d6d9c904cf7" /><Relationship Type="http://schemas.openxmlformats.org/officeDocument/2006/relationships/notesSlide" Target="/ppt/notesSlides/notesSlide4.xml" Id="R891212d8f0ae4a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6c0943ffd4d31" /><Relationship Type="http://schemas.openxmlformats.org/officeDocument/2006/relationships/notesSlide" Target="/ppt/notesSlides/notesSlide5.xml" Id="R690dd4d1d7674f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d456a95d24713" /><Relationship Type="http://schemas.openxmlformats.org/officeDocument/2006/relationships/notesSlide" Target="/ppt/notesSlides/notesSlide6.xml" Id="R49a2aa79091042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7B7D2A-D353-4EE0-8D00-77C2E71F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3DA8E-763B-45D3-A8FD-7E904369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9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AIRTABLE MCP | STRATEGIC VISIBILITY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6CAC1-E8A5-4095-BEF6-1BDD33F5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3F006-4174-4401-83BF-CAA96735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Cisco Confidential | Airtable MCP Skill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DE49A-0664-4347-92D9-0624477C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3150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10F8C-2CFF-4301-98B9-DEFF793D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2550" b="1">
                <a:solidFill>
                  <a:srgbClr val="FFFFFF"/>
                </a:solidFill>
                <a:latin typeface="CiscoSansTT Medium"/>
                <a:ea typeface="CiscoSansTT Medium"/>
                <a:cs typeface="CiscoSansTT Medium"/>
              </a:rPr>
              <a:t>Automating Data Management for Strategic Visibility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CF8AD-4E82-4CC5-BE24-770A9B5A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14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Codex-Airtable MCP Integration for V2MOM Operational Excellence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BAD8C-A187-444A-9067-5943682E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14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2C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42CE4-09B1-433D-B0BC-8C0F4E13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2C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A6D93-A322-4905-B80E-66F663AC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468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500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What the skill 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7226A-9B5C-4742-AC47-F5932189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6863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3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A Codex-enabled integration connected to Airtable's hosted MCP endpoint. It provides structured, permission-aware access to Airtable data for CX/V2MOM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07F47-8C17-4A0A-88A1-25303764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514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A6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C5154-455B-404A-92F0-EAC3795F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AE552-8268-4798-BD4F-B400A2B4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468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500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rPr>
              <a:t>Why it matters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BE9E4-491D-4024-84B7-82110598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46863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E5D81-D8BC-4C49-A66D-6333EA2E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19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B1B42-E063-4ABB-86DB-45CA5E0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4325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Reduces manual Airtable navigation.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A1D15-0D76-4F90-901D-EEEDE533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81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3F3E2-23BD-4A9F-95DF-2EAD6B03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0520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Improves consistency of leadership reporting.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AAA8D-350D-4DBF-92D3-16E98D56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43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00E09-8278-4635-9FCB-D40C4685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6715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Keeps access and updates governed.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E367E8-ED45-4F53-A851-DFCF1C95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9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85AF0-418A-4444-9112-86CD32EA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982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rPr>
              <a:t>Session details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7006D-DEAC-4BC6-B932-77272902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72100"/>
            <a:ext cx="982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20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Presenter: Varun Kumar Abbai Vari    |    Session: CX Solutions Cloud PM Team Quarterly Sync    |    Date: 11 June 2026</a:t>
            </a:r>
          </a:p>
        </p:txBody>
      </p:sp>
    </p:spTree>
    <p:extLst>
      <p:ext uri="{BB962C8B-B14F-4D97-AF65-F5344CB8AC3E}">
        <p14:creationId xmlns:p14="http://schemas.microsoft.com/office/powerpoint/2010/main" val="10064330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1D2346-7F12-4D01-BB5F-0466C6A8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B1A66-754E-47D4-A248-86ECF672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9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KEY BENEFITS WITH MCP IN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E7F5B-71A6-491D-A55F-3DCCF518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D6709-8439-44FA-8529-E8ED6285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Cisco Confidential | Airtable MCP Skill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DA114-37A4-4B16-BA57-CC2D150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3150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D47E8-04A9-44B0-80C4-4CE58EAA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2400" b="1">
                <a:solidFill>
                  <a:srgbClr val="FFFFFF"/>
                </a:solidFill>
                <a:latin typeface="CiscoSansTT Medium"/>
                <a:ea typeface="CiscoSansTT Medium"/>
                <a:cs typeface="CiscoSansTT Medium"/>
              </a:rPr>
              <a:t>From Jira/FIRA Signals to Governed Airtable Updates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AA4DD-D6AD-4001-9F3B-0FBC00AB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066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1350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Airtable remains the system of record; Codex MCP access becomes the governed intelligence layer for updates and readouts.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C90D8-11DF-4317-BCFA-6E35C5D9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514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2C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E682D-802D-4F30-B368-E3C6692D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2C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20F20-1A40-4407-86D2-485712BA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00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Jira/FIRA status-to-Airtable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D76A4-F30C-4D1E-8045-C764F4A0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Fetch configured Jira/FIRA status and map latest commentary to the applicable Airtable sub-level method.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35175-E099-4429-B9E1-05B13E1D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514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A6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27DFB-A81C-4FF1-9247-3A09DA0C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1C3B8-4511-49ED-9B43-308BFD5C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00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rPr>
              <a:t>Dry-run commentary updates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12B55-7C33-457C-A696-DAC9A46B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Show target record, current value, proposed commentary, source reference, and reason before any write.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4B1B3-6693-4935-98AE-3569BAF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514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00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3EB10-9410-42DB-8EBF-625035EA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7F"/>
          </a:solidFill>
          <a:ln xmlns:a="http://schemas.openxmlformats.org/drawingml/2006/main" w="0">
            <a:solidFill>
              <a:srgbClr val="FF00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70968-1F39-4D50-B8B0-160EF5F1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007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00" b="1">
                <a:solidFill>
                  <a:srgbClr val="FF007F"/>
                </a:solidFill>
                <a:latin typeface="CiscoSansTT Medium"/>
                <a:ea typeface="CiscoSansTT Medium"/>
                <a:cs typeface="CiscoSansTT Medium"/>
              </a:rPr>
              <a:t>Reduce stale V2MOM reporting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4AA25-1581-48BA-8823-48E50655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Identify methods where Airtable commentary is older than Jira/FIRA activity or reporting-period expectations.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E32D0-A216-4493-957F-81B64217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514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9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1632E-7EF5-466C-8EC6-D66B6130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000"/>
          </a:solidFill>
          <a:ln xmlns:a="http://schemas.openxmlformats.org/drawingml/2006/main" w="0">
            <a:solidFill>
              <a:srgbClr val="FF9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C1255-8079-4279-895C-6A4500FC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00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rPr>
              <a:t>Cross-source risk visibility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1EF0E-FB8D-496C-9075-C75C8658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Highlight At Risk, Off Track, blocked, slipped, or stale execution areas across Airtable and Jira/FIRA.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14DC8-03F5-4E1A-AD88-0942FA95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514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2C8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F5460-D5A6-4A00-A282-22678A6B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2C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3F489-3DB1-49D2-B204-AAE885B6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00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Data quality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D19D7D-FAA4-4B07-9C52-F5957487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Flag missing owners, blank updates, inconsistent statuses, and Airtable versus Jira/FIRA mismatches.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22110-8B36-4880-A9F8-F833F672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514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A60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E862FE-E783-44D8-AE41-D20707A1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049FA1-DCF1-4D2C-A99C-142789FD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00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rPr>
              <a:t>Repeatable leadership cadence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D29E5C-E451-4758-A020-19E21D7B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Generate weekly, MBR, QBR, and senior-leadership views without rebuilding Airtable filters.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0FF638-F618-4ED9-B016-F066A7AE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9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EE87A-D943-4A86-A9D4-57395E49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10250"/>
            <a:ext cx="982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rPr>
              <a:t>Governance positioning: fetch, compare, summarize, prepare, review, then write only after explicit approval.</a:t>
            </a:r>
          </a:p>
        </p:txBody>
      </p:sp>
    </p:spTree>
    <p:extLst>
      <p:ext uri="{BB962C8B-B14F-4D97-AF65-F5344CB8AC3E}">
        <p14:creationId xmlns:p14="http://schemas.microsoft.com/office/powerpoint/2010/main" val="11782787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13D5F6-E73F-4EC0-BBB4-74678303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3736B-E7B3-42C5-AB60-CA5D6910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9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CORE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1F890-A0BF-4E21-8DAD-490B867B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062B1-7C20-4349-95BD-A8B48186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Cisco Confidential | Airtable MCP Skill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ABD0B-8191-4A4F-A875-1BA7E728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3150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2CEC4-5BCB-4ED2-849E-5C659E85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2550" b="1">
                <a:solidFill>
                  <a:srgbClr val="FFFFFF"/>
                </a:solidFill>
                <a:latin typeface="CiscoSansTT Medium"/>
                <a:ea typeface="CiscoSansTT Medium"/>
                <a:cs typeface="CiscoSansTT Medium"/>
              </a:rPr>
              <a:t>What the Skill Can 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9995A-9A55-48D6-9B89-CDF9C2C3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14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The MCP supports discovery, read/search, summarization, and governed update preparation.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6BCD2-85E5-4F17-9D1E-6D003288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514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2C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2720F-5033-403E-9BB4-F635F0BB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2C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537A9-41A6-449D-B2E9-37749451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68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500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Discover Airtable Assets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E0B0C-57C5-4D93-98DD-10DD0C70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Workspaces, bases, tables, fields, and select-list choices.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AFA33-B172-4C8A-975F-31105C54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514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A6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4308A-9C6A-44B0-8282-DDD66C05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FE71D-BD40-43D1-9F48-3BB229DC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468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500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rPr>
              <a:t>Read and Search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EF3EC-FC8A-4A2C-B4B0-4E9FCD8C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Approved bases, tables, and Airtable Interface pages.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05770-AC15-44DE-810D-9F1A70C7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00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51A62-9A0F-47B8-B254-ECD7E238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7F"/>
          </a:solidFill>
          <a:ln xmlns:a="http://schemas.openxmlformats.org/drawingml/2006/main" w="0">
            <a:solidFill>
              <a:srgbClr val="FF00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30A88-7C16-4021-A90B-5D40073C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468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007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500" b="1">
                <a:solidFill>
                  <a:srgbClr val="FF007F"/>
                </a:solidFill>
                <a:latin typeface="CiscoSansTT Medium"/>
                <a:ea typeface="CiscoSansTT Medium"/>
                <a:cs typeface="CiscoSansTT Medium"/>
              </a:rPr>
              <a:t>Summarize Operational Signals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31039-06F7-4A32-9D97-EDADC40E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Status, stale updates, comments, owners, linked records, and risks.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FC836-4139-4CC4-844D-121E0D19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514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9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4B549A-AA31-4A6F-A0A1-A3509979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000"/>
          </a:solidFill>
          <a:ln xmlns:a="http://schemas.openxmlformats.org/drawingml/2006/main" w="0">
            <a:solidFill>
              <a:srgbClr val="FF9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68A2A-E47C-4BF6-8C01-FA76587C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05300"/>
            <a:ext cx="468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500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rPr>
              <a:t>Prepare Updates with 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C957A-B976-4EB6-8878-E8D92D69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2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Dry-run comments or record updates before any write action.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D07FFA-57C3-4EF6-9DF5-D7106C3B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9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95E60-94D3-43A8-83C6-E7DB37CB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72150"/>
            <a:ext cx="887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rPr>
              <a:t>Governance principle: Human review remains required before Airtable write actions.</a:t>
            </a:r>
          </a:p>
        </p:txBody>
      </p:sp>
    </p:spTree>
    <p:extLst>
      <p:ext uri="{BB962C8B-B14F-4D97-AF65-F5344CB8AC3E}">
        <p14:creationId xmlns:p14="http://schemas.microsoft.com/office/powerpoint/2010/main" val="7209512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CCADF0-DDDE-44A6-BA7A-AA235E44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FA95A-003E-4089-BD45-F93322A1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9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STRATEGIC VISIBILITY INTO V2MOM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6724A-791D-401B-B6E5-D33B5FF3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07EC2-7EF6-46D1-BEF4-BCA3215F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Cisco Confidential | Airtable MCP Skill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DD6E0-B815-461E-A120-D2801B75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3150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836DA-F92E-4667-8448-1F34EA60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2550" b="1">
                <a:solidFill>
                  <a:srgbClr val="FFFFFF"/>
                </a:solidFill>
                <a:latin typeface="CiscoSansTT Medium"/>
                <a:ea typeface="CiscoSansTT Medium"/>
                <a:cs typeface="CiscoSansTT Medium"/>
              </a:rPr>
              <a:t>From Manual Reporting to Business 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554CD-451C-490D-8041-F2D034F2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14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Convert distributed V2MOM data into structured, leadership-ready insights.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BC8C1-3CA3-4E5D-811F-D7A9FC8A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1049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2C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9FC68-34F4-4FF8-8FBB-93E8DF71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2C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0746F-8F54-4AF6-9A61-2505333F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059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500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What we will 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8555D-C37F-4FC9-97CB-D814C141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05918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19560-657E-4ABB-991D-F7A020FF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000"/>
          </a:solidFill>
          <a:ln xmlns:a="http://schemas.openxmlformats.org/drawingml/2006/main" w="0">
            <a:solidFill>
              <a:srgbClr val="FF9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BF55F-A1AA-42F9-AC4D-66914AC9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3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Leadership top-level view for V2MOM methods.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791F9-FC6F-4500-A1F7-B89D55E9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000"/>
          </a:solidFill>
          <a:ln xmlns:a="http://schemas.openxmlformats.org/drawingml/2006/main" w="0">
            <a:solidFill>
              <a:srgbClr val="FF9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2883A-32F1-44D3-B303-77B9C791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3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Holistic view across values, methods, owners, and statuses.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E7403-891F-44B4-BB6F-BFBCA46B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000"/>
          </a:solidFill>
          <a:ln xmlns:a="http://schemas.openxmlformats.org/drawingml/2006/main" w="0">
            <a:solidFill>
              <a:srgbClr val="FF9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CA743-57C0-469A-87F9-03701719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3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Targeted extraction by H2 Value and Top-Level Method.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79C83-2E9C-4E59-9D99-4F72AE12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000"/>
          </a:solidFill>
          <a:ln xmlns:a="http://schemas.openxmlformats.org/drawingml/2006/main" w="0">
            <a:solidFill>
              <a:srgbClr val="FF9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D5E77-ABE8-4C3E-AA91-941B02EE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3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Outcome reporting by period, risk, ownership, and status.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F4906-E240-4DBF-A2ED-2D2D1D68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9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DB65F-D8A7-43BA-820F-1134A9C0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86400"/>
            <a:ext cx="887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rPr>
              <a:t>Strategic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C072D-D3D5-4CB2-B571-162FB1AA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53100"/>
            <a:ext cx="887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20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Faster leadership review, clearer risk visibility, and more consistent V2MOM execution reporting.</a:t>
            </a:r>
          </a:p>
        </p:txBody>
      </p:sp>
    </p:spTree>
    <p:extLst>
      <p:ext uri="{BB962C8B-B14F-4D97-AF65-F5344CB8AC3E}">
        <p14:creationId xmlns:p14="http://schemas.microsoft.com/office/powerpoint/2010/main" val="12643897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996E76-4252-4F93-8787-32B7C6AF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B4F40-9474-4391-BD77-361ADC21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9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COMBINED PROMPT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81A2B-5E09-4E8D-BDB0-852A50CA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6F983-F6CB-4B6D-B3D2-01D8232B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Cisco Confidential | Airtable MCP Skill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2FB7E-2432-4D82-894D-5FCB52D1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3150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A8D46-3BAE-4D44-8010-A52D2304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2400" b="1">
                <a:solidFill>
                  <a:srgbClr val="FFFFFF"/>
                </a:solidFill>
                <a:latin typeface="CiscoSansTT Medium"/>
                <a:ea typeface="CiscoSansTT Medium"/>
                <a:cs typeface="CiscoSansTT Medium"/>
              </a:rPr>
              <a:t>One Slide for Critical Prompt Patterns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0FD4E-9214-4E24-97C3-534046D2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1350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Ask for source, scope, filters, output columns, and write intent in the same prompt.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13B00-9933-4D85-A9D3-F09F159C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2C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DC4B8-2EF1-43E3-A807-CCC27AE8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2C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DE88D-E4ED-4602-856A-7D2E269D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Discovery + data dictionary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AB085-1BF9-4873-B04B-9F6ADF25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Show accessible workspaces, bases, tables, fields, pages, and select-list choices for the V2MOM 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37554-052F-43F6-8285-1FBADF59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A6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0050E-E415-4A13-B998-6654B537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77F44-511B-4AFB-B671-7523AB75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rPr>
              <a:t>Risk + stale scan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CFF37-B7C0-4F4F-A7C1-E3B38527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Find At Risk, Off Track, stale, or slipped methods with latest commentary, owner, and reporting period.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B488D-599F-40A8-A3B8-E4D6EFA8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00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FD603-AEEC-4A0A-B271-DC247031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7F"/>
          </a:solidFill>
          <a:ln xmlns:a="http://schemas.openxmlformats.org/drawingml/2006/main" w="0">
            <a:solidFill>
              <a:srgbClr val="FF007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E2CAE-5090-48D5-AA56-DE1C9304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007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FF007F"/>
                </a:solidFill>
                <a:latin typeface="CiscoSansTT Medium"/>
                <a:ea typeface="CiscoSansTT Medium"/>
                <a:cs typeface="CiscoSansTT Medium"/>
              </a:rPr>
              <a:t>Jira/FIRA enrichment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07B52-958D-4DB9-A5B0-700F0646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330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Fetch configured Jira/FIRA status and compare with Airtable sub-level method commentary wherever applicable.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83A67-CB86-4AE0-A3F8-BAA90CD8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9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EC74E-BD70-4AF3-BF27-1D118E8C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000"/>
          </a:solidFill>
          <a:ln xmlns:a="http://schemas.openxmlformats.org/drawingml/2006/main" w="0">
            <a:solidFill>
              <a:srgbClr val="FF9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7D754-995C-4318-AFE6-9D40FA41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rPr>
              <a:t>Linked-record 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4F008-9BED-433A-A02F-0C6CCA9F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Group FIRA-linked sub-methods by H2 Value, Top-Level Method, owner, status, and release-quarter risk.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616A8-65C1-47F9-87F9-CDB63832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704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2C8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57FD84-DE7A-4B72-B7C9-F3AE90B5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2C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09F53-7D76-4B71-B1C8-88E32A54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Dry-run write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60182-4E38-4703-860D-8E1BDFB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7680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Prepare comments or record updates with target record, source reference, proposed text, and no write until approved.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04DA76-7F8F-4894-87CC-4AA9F54E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6195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A60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D12A0A-B740-472C-A012-AF24EBF2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rPr>
              <a:t>Prompt guidance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183538-0CFB-481C-A059-EE67E5B1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7425D0-52FA-4D44-8823-F0A9EF2F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Name the base, table, view, or page.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C4903C-F4B3-45D8-95C8-E8C3EC94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DF92A9-C50D-4118-A897-8574CE4B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Specify columns, grouping, and sort order.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8D5184-BB46-4AF0-B701-D02602A8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FDB4C1-FFA5-4A31-8E4E-7FC6D93B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Include timeframe, status, owner, and risk filters.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F106FD-10DF-4EA6-A46B-1CE91AC2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296475-BC1D-4986-9A33-1CFB2616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Ask for source references and gaps.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4AC973-CB87-452B-8291-AB83966D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3619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9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D7B976-BD0E-4443-9458-545CE8E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5290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rPr>
              <a:t>Watch-outs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5A1BF6-5133-407B-B686-E707E111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48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000"/>
          </a:solidFill>
          <a:ln xmlns:a="http://schemas.openxmlformats.org/drawingml/2006/main" w="0">
            <a:solidFill>
              <a:srgbClr val="FF9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9C22D7-7B29-48CB-8B4D-30E7DA02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720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Permissions and PAT scope still apply.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DFDE8A-D1F1-464E-BC04-5FD5654D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000"/>
          </a:solidFill>
          <a:ln xmlns:a="http://schemas.openxmlformats.org/drawingml/2006/main" w="0">
            <a:solidFill>
              <a:srgbClr val="FF9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39B31E-55CE-4D08-AA4B-8C12EA04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768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Use dry-run wording for any write action.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C6885C-AADC-4135-B6DB-604C7306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000"/>
          </a:solidFill>
          <a:ln xmlns:a="http://schemas.openxmlformats.org/drawingml/2006/main" w="0">
            <a:solidFill>
              <a:srgbClr val="FF9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FE9E70-D4B6-4ECD-B3BE-E6127EB3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816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1050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Validate select-list choices before updates.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ED1025-3F1A-4632-8B00-9AFEEE5E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7215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007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DE7413-BB8C-457A-94C4-296B1F8C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245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007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FF007F"/>
                </a:solidFill>
                <a:latin typeface="CiscoSansTT Medium"/>
                <a:ea typeface="CiscoSansTT Medium"/>
                <a:cs typeface="CiscoSansTT Medium"/>
              </a:rPr>
              <a:t>Dry-run first. Write only after approval.</a:t>
            </a:r>
          </a:p>
        </p:txBody>
      </p:sp>
    </p:spTree>
    <p:extLst>
      <p:ext uri="{BB962C8B-B14F-4D97-AF65-F5344CB8AC3E}">
        <p14:creationId xmlns:p14="http://schemas.microsoft.com/office/powerpoint/2010/main" val="14760236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921A1E-C306-49EB-A34F-3F941B37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F2553-8183-4DCA-B6A4-8FCDDA7D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9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PROMPT SCREENSHOTS AND EXAMPLE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C20E8-728D-42A5-B923-4A45B10C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DDC93-0FFF-4090-9B14-B1BB6D09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15075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Cisco Confidential | Airtable MCP Skill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7CE15-DEBF-4DC6-8932-9E420E45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3150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525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EE05B-2334-446B-89C5-E07DBFE8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1085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2400" b="1">
                <a:solidFill>
                  <a:srgbClr val="FFFFFF"/>
                </a:solidFill>
                <a:latin typeface="CiscoSansTT Medium"/>
                <a:ea typeface="CiscoSansTT Medium"/>
                <a:cs typeface="CiscoSansTT Medium"/>
              </a:rPr>
              <a:t>What the Outputs Can Look Like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798A0-396B-47C8-BD83-F6C93254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BDC8"/>
                </a:solidFill>
                <a:latin typeface="CiscoSansTT"/>
                <a:ea typeface="CiscoSansTT"/>
                <a:cs typeface="CiscoSansTT"/>
              </a:defRPr>
            </a:pPr>
            <a:r>
              <a:rPr sz="1350" b="0">
                <a:solidFill>
                  <a:srgbClr val="B4BDC8"/>
                </a:solidFill>
                <a:latin typeface="CiscoSansTT"/>
                <a:ea typeface="CiscoSansTT"/>
                <a:cs typeface="CiscoSansTT"/>
              </a:rPr>
              <a:t>Representative outputs for leadership review, dry-run update planning, and operating follow-through.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D28E1-57E7-486C-B228-5A2F4D69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34290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2C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B6218-67A8-41A0-91E4-114B1D94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571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8FF"/>
          </a:solidFill>
          <a:ln xmlns:a="http://schemas.openxmlformats.org/drawingml/2006/main" w="0">
            <a:solidFill>
              <a:srgbClr val="02C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98E7F-8F4A-440D-8125-71C72FCF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02C8FF"/>
                </a:solidFill>
                <a:latin typeface="CiscoSansTT Medium"/>
                <a:ea typeface="CiscoSansTT Medium"/>
                <a:cs typeface="CiscoSansTT Medium"/>
              </a:rPr>
              <a:t>Stale update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7104C-7EF0-43ED-B1AA-33C0ACED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BDC8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125" b="1">
                <a:solidFill>
                  <a:srgbClr val="B4BDC8"/>
                </a:solidFill>
                <a:latin typeface="CiscoSansTT Medium"/>
                <a:ea typeface="CiscoSansTT Medium"/>
                <a:cs typeface="CiscoSansTT Medium"/>
              </a:rPr>
              <a:t>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250D3-EDA8-4A45-8439-BC68CCFF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Find stale V2MOM sub-methods where commentary has not changed in the latest reporting period.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34F52-3441-4E77-B810-504FC99A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BDC8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125" b="1">
                <a:solidFill>
                  <a:srgbClr val="B4BDC8"/>
                </a:solidFill>
                <a:latin typeface="CiscoSansTT Medium"/>
                <a:ea typeface="CiscoSansTT Medium"/>
                <a:cs typeface="CiscoSansTT Medium"/>
              </a:rPr>
              <a:t>Example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427FF-332A-41E4-AA77-475A0B91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Output fields:</a:t>
            </a:r>
          </a:p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Method | Owner | Current Status | Last Update | Staleness Reason | Recommended Follow-up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Leadership readout:</a:t>
            </a:r>
          </a:p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3 stale methods need owner confirmation before the weekly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AE98C-AE9B-4471-AF68-D19DF99D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0A60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2EDB1-CF35-4F2E-8162-32DB0EEA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571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0FF"/>
          </a:solidFill>
          <a:ln xmlns:a="http://schemas.openxmlformats.org/drawingml/2006/main" w="0">
            <a:solidFill>
              <a:srgbClr val="0A60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8E3E2-48E1-4916-9516-C5B4C242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0A60FF"/>
                </a:solidFill>
                <a:latin typeface="CiscoSansTT Medium"/>
                <a:ea typeface="CiscoSansTT Medium"/>
                <a:cs typeface="CiscoSansTT Medium"/>
              </a:rPr>
              <a:t>Jira/FIRA commentary draft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BA872-3CE3-4096-A83F-4E928F12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146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BDC8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125" b="1">
                <a:solidFill>
                  <a:srgbClr val="B4BDC8"/>
                </a:solidFill>
                <a:latin typeface="CiscoSansTT Medium"/>
                <a:ea typeface="CiscoSansTT Medium"/>
                <a:cs typeface="CiscoSansTT Medium"/>
              </a:rPr>
              <a:t>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0F4DF-3A2A-476C-9E25-635E4337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337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Fetch Jira/FIRA status and prepare Airtable commentary updates for applicable sub-level methods. Dry-run only.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11CDA-9F65-4B43-9763-65DE3B70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24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BDC8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125" b="1">
                <a:solidFill>
                  <a:srgbClr val="B4BDC8"/>
                </a:solidFill>
                <a:latin typeface="CiscoSansTT Medium"/>
                <a:ea typeface="CiscoSansTT Medium"/>
                <a:cs typeface="CiscoSansTT Medium"/>
              </a:rPr>
              <a:t>Example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C6C7B-6CB6-41C6-8564-59033155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528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Dry-run update plan:</a:t>
            </a:r>
          </a:p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Target record: Sub-method ABC</a:t>
            </a:r>
          </a:p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Source: Jira/FIRA status and latest comment</a:t>
            </a:r>
          </a:p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Proposed commentary: Summarized status, risk, dependency, and next action.</a:t>
            </a:r>
          </a:p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Write status: Pending approval.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81D37-AB65-4A52-B20B-6447A10A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4290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9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B2CCD-75D4-4F85-ABDE-CEB65549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571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000"/>
          </a:solidFill>
          <a:ln xmlns:a="http://schemas.openxmlformats.org/drawingml/2006/main" w="0">
            <a:solidFill>
              <a:srgbClr val="FF9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EE777-9C6A-49EF-9EC3-FDE3DBE1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275" b="1">
                <a:solidFill>
                  <a:srgbClr val="FF9000"/>
                </a:solidFill>
                <a:latin typeface="CiscoSansTT Medium"/>
                <a:ea typeface="CiscoSansTT Medium"/>
                <a:cs typeface="CiscoSansTT Medium"/>
              </a:rPr>
              <a:t>Leadership summary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13E9C7-48B5-43AB-8EBF-645B17FE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146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BDC8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125" b="1">
                <a:solidFill>
                  <a:srgbClr val="B4BDC8"/>
                </a:solidFill>
                <a:latin typeface="CiscoSansTT Medium"/>
                <a:ea typeface="CiscoSansTT Medium"/>
                <a:cs typeface="CiscoSansTT Medium"/>
              </a:rPr>
              <a:t>Prompt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58E7B3-1AF6-4211-AEE2-1F306979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Summarize V2MOM execution by H2 Value, status, owner, risk, and decision needed.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5EAA0-3776-46F4-B1BE-8F60AA50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BDC8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125" b="1">
                <a:solidFill>
                  <a:srgbClr val="B4BDC8"/>
                </a:solidFill>
                <a:latin typeface="CiscoSansTT Medium"/>
                <a:ea typeface="CiscoSansTT Medium"/>
                <a:cs typeface="CiscoSansTT Medium"/>
              </a:rPr>
              <a:t>Example 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61384D-ECC2-4BDC-A5A2-B3830A3E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5285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Executive view:</a:t>
            </a:r>
          </a:p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At Risk: 4 methods</a:t>
            </a:r>
          </a:p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Off Track: 2 methods</a:t>
            </a:r>
          </a:p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Owner gaps: 1 method</a:t>
            </a:r>
          </a:p>
          <a:p xmlns:a="http://schemas.openxmlformats.org/drawingml/2006/main">
            <a:pPr algn="l">
              <a:def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defRPr>
            </a:pPr>
            <a:r>
              <a:rPr sz="975" b="0">
                <a:solidFill>
                  <a:srgbClr val="D6DCE3"/>
                </a:solidFill>
                <a:latin typeface="CiscoSansTT"/>
                <a:ea typeface="CiscoSansTT"/>
                <a:cs typeface="CiscoSansTT"/>
              </a:rPr>
              <a:t>Decision needed: confirm remediation owner and next reporting-period update.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0E19C-4B60-4EA5-859B-10B5A8D8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D"/>
          </a:solidFill>
          <a:ln xmlns:a="http://schemas.openxmlformats.org/drawingml/2006/main" w="19050">
            <a:solidFill>
              <a:srgbClr val="FF007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D93A30-3F92-4D98-992D-D4A75234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72175"/>
            <a:ext cx="887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007F"/>
                </a:solidFill>
                <a:latin typeface="CiscoSansTT Medium"/>
                <a:ea typeface="CiscoSansTT Medium"/>
                <a:cs typeface="CiscoSansTT Medium"/>
              </a:defRPr>
            </a:pPr>
            <a:r>
              <a:rPr sz="1050" b="1">
                <a:solidFill>
                  <a:srgbClr val="FF007F"/>
                </a:solidFill>
                <a:latin typeface="CiscoSansTT Medium"/>
                <a:ea typeface="CiscoSansTT Medium"/>
                <a:cs typeface="CiscoSansTT Medium"/>
              </a:rPr>
              <a:t>Output standard: every result should identify source, scope, confidence gaps, and whether the next action is read-only or write-approved.</a:t>
            </a:r>
          </a:p>
        </p:txBody>
      </p:sp>
    </p:spTree>
    <p:extLst>
      <p:ext uri="{BB962C8B-B14F-4D97-AF65-F5344CB8AC3E}">
        <p14:creationId xmlns:p14="http://schemas.microsoft.com/office/powerpoint/2010/main" val="237653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2026-06-11T02:51:30.4170000Z</dcterms:created>
  <dcterms:modified xsi:type="dcterms:W3CDTF">2026-06-11T02:51:30.4170000Z</dcterms:modified>
</coreProperties>
</file>