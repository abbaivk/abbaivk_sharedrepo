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e637180ca64ef9" /><Relationship Type="http://schemas.openxmlformats.org/officeDocument/2006/relationships/extended-properties" Target="/docProps/app.xml" Id="R805a6ad222a24e4f" /><Relationship Type="http://schemas.openxmlformats.org/officeDocument/2006/relationships/officeDocument" Target="/ppt/presentation.xml" Id="R30efd144205541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e21b6725c149bf"/>
  </p:sldMasterIdLst>
  <p:notesMasterIdLst>
    <p:notesMasterId xmlns:r="http://schemas.openxmlformats.org/officeDocument/2006/relationships" r:id="Rc9626061bb4b4c7b"/>
  </p:notesMasterIdLst>
  <p:sldIdLst>
    <p:sldId xmlns:r="http://schemas.openxmlformats.org/officeDocument/2006/relationships" id="256" r:id="Rf6d0d6ca87bb497e"/>
    <p:sldId xmlns:r="http://schemas.openxmlformats.org/officeDocument/2006/relationships" id="257" r:id="Rda02c062af87460e"/>
    <p:sldId xmlns:r="http://schemas.openxmlformats.org/officeDocument/2006/relationships" id="258" r:id="R97764f362cd14699"/>
    <p:sldId xmlns:r="http://schemas.openxmlformats.org/officeDocument/2006/relationships" id="259" r:id="Rae7fb74d954843e9"/>
    <p:sldId xmlns:r="http://schemas.openxmlformats.org/officeDocument/2006/relationships" id="260" r:id="R7f91a31d47564469"/>
    <p:sldId xmlns:r="http://schemas.openxmlformats.org/officeDocument/2006/relationships" id="261" r:id="R1fd53fa52a294a3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5d84ef423d4eb4" /><Relationship Type="http://schemas.openxmlformats.org/officeDocument/2006/relationships/slideMaster" Target="/ppt/slideMasters/slideMaster1.xml" Id="Ra5e21b6725c149bf" /><Relationship Type="http://schemas.openxmlformats.org/officeDocument/2006/relationships/notesMaster" Target="/ppt/notesMasters/notesMaster1.xml" Id="Rc9626061bb4b4c7b" /><Relationship Type="http://schemas.openxmlformats.org/officeDocument/2006/relationships/presProps" Target="/ppt/presProps.xml" Id="Ra2967ec8b3d141ca" /><Relationship Type="http://schemas.openxmlformats.org/officeDocument/2006/relationships/viewProps" Target="/ppt/viewProps.xml" Id="Rfd65cb5f45324f16" /><Relationship Type="http://schemas.openxmlformats.org/officeDocument/2006/relationships/tableStyles" Target="/ppt/tableStyles.xml" Id="Rf865c5d174514d4d" /><Relationship Type="http://schemas.openxmlformats.org/officeDocument/2006/relationships/slide" Target="/ppt/slides/slide1.xml" Id="Rf6d0d6ca87bb497e" /><Relationship Type="http://schemas.openxmlformats.org/officeDocument/2006/relationships/slide" Target="/ppt/slides/slide2.xml" Id="Rda02c062af87460e" /><Relationship Type="http://schemas.openxmlformats.org/officeDocument/2006/relationships/slide" Target="/ppt/slides/slide3.xml" Id="R97764f362cd14699" /><Relationship Type="http://schemas.openxmlformats.org/officeDocument/2006/relationships/slide" Target="/ppt/slides/slide4.xml" Id="Rae7fb74d954843e9" /><Relationship Type="http://schemas.openxmlformats.org/officeDocument/2006/relationships/slide" Target="/ppt/slides/slide5.xml" Id="R7f91a31d47564469" /><Relationship Type="http://schemas.openxmlformats.org/officeDocument/2006/relationships/slide" Target="/ppt/slides/slide6.xml" Id="R1fd53fa52a294a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1cf711601942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dfbefc9b094a98" /><Relationship Type="http://schemas.openxmlformats.org/officeDocument/2006/relationships/notesMaster" Target="/ppt/notesMasters/notesMaster1.xml" Id="R7930e88b751740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bf80a6dbde4f4f" /><Relationship Type="http://schemas.openxmlformats.org/officeDocument/2006/relationships/notesMaster" Target="/ppt/notesMasters/notesMaster1.xml" Id="Rb645054e797647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db9a3c870e4ff7" /><Relationship Type="http://schemas.openxmlformats.org/officeDocument/2006/relationships/notesMaster" Target="/ppt/notesMasters/notesMaster1.xml" Id="Re6eb9dede12a4e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cbcb45622242d8" /><Relationship Type="http://schemas.openxmlformats.org/officeDocument/2006/relationships/notesMaster" Target="/ppt/notesMasters/notesMaster1.xml" Id="R752f855f92404e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e5c7624c3246fb" /><Relationship Type="http://schemas.openxmlformats.org/officeDocument/2006/relationships/notesMaster" Target="/ppt/notesMasters/notesMaster1.xml" Id="R0e720362ca1b41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a4125f16a247f9" /><Relationship Type="http://schemas.openxmlformats.org/officeDocument/2006/relationships/notesMaster" Target="/ppt/notesMasters/notesMaster1.xml" Id="Rfae30ff523c343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1e88c7d6cb47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550ceee87941f2" /><Relationship Type="http://schemas.openxmlformats.org/officeDocument/2006/relationships/slideLayout" Target="/ppt/slideLayouts/slideLayout1.xml" Id="Rbbe737a92a9340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e737a92a9340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804cd30874849" /><Relationship Type="http://schemas.openxmlformats.org/officeDocument/2006/relationships/notesSlide" Target="/ppt/notesSlides/notesSlide1.xml" Id="R4e631ab6570540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f387c0824b405d" /><Relationship Type="http://schemas.openxmlformats.org/officeDocument/2006/relationships/notesSlide" Target="/ppt/notesSlides/notesSlide2.xml" Id="Rdf0775a92eb4440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f668ffa564da3" /><Relationship Type="http://schemas.openxmlformats.org/officeDocument/2006/relationships/notesSlide" Target="/ppt/notesSlides/notesSlide3.xml" Id="Rf1770e7218f045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a75b6ec3824a08" /><Relationship Type="http://schemas.openxmlformats.org/officeDocument/2006/relationships/notesSlide" Target="/ppt/notesSlides/notesSlide4.xml" Id="R64c74a804da440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399b922d1f49f6" /><Relationship Type="http://schemas.openxmlformats.org/officeDocument/2006/relationships/notesSlide" Target="/ppt/notesSlides/notesSlide5.xml" Id="R74644b5c224646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6fd2064fb4fc6" /><Relationship Type="http://schemas.openxmlformats.org/officeDocument/2006/relationships/notesSlide" Target="/ppt/notesSlides/notesSlide6.xml" Id="Rc52944df1905476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A1C7AB-7E55-4218-93E2-0C40D934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ECF29-1111-47EC-8C73-81393EDE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4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0C359C-1093-47E3-B51D-CAA2CBB2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11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01E937-587E-4FA4-B974-D08E35C0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11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774838-4BA1-4C5C-8EE1-D0E854BB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E7DB13-C0BE-4E81-A66B-C7B6BE08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5315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CAD55E-7319-49EE-BBE9-04F1446D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0"/>
            <a:ext cx="247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D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3DDA5-9CF0-4FB5-B961-8BECEC7A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0"/>
            <a:ext cx="5715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D597F3-2F4F-45B2-9374-3D4F9E31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8286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7F9FB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7F9FB"/>
                </a:solidFill>
                <a:latin typeface="Aptos Display"/>
                <a:ea typeface="Aptos Display"/>
                <a:cs typeface="Aptos Display"/>
              </a:rPr>
              <a:t>Automating Data Management for Strategic Visibility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6CF4D8-837A-4205-87A9-1CFA6FE9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D6FBCD-C83E-41F2-9772-12C0A77D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86050"/>
            <a:ext cx="7905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Codex-Airtable MCP Integration for V2MOM Operational Excellence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441CF2-D90E-4DEA-89ED-14F4634C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95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C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BCEB"/>
                </a:solidFill>
                <a:latin typeface="Aptos"/>
                <a:ea typeface="Aptos"/>
                <a:cs typeface="Aptos"/>
              </a:rPr>
              <a:t>Presenter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A8513D-69F0-4BB1-AF2F-01B60534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03860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9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7F9FB"/>
                </a:solidFill>
                <a:latin typeface="Aptos"/>
                <a:ea typeface="Aptos"/>
                <a:cs typeface="Aptos"/>
              </a:rPr>
              <a:t>Varun Kumar Abbai Vari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DA2B9A-3814-4DCF-8BA3-786CC78F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95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C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BCEB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523B42-78A8-4FFE-B4DA-DB17B863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410075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9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7F9FB"/>
                </a:solidFill>
                <a:latin typeface="Aptos"/>
                <a:ea typeface="Aptos"/>
                <a:cs typeface="Aptos"/>
              </a:rPr>
              <a:t>Engineering Program Manager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59D5C3-910A-4CA8-A60C-1FFA2BD6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95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C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BCEB"/>
                </a:solidFill>
                <a:latin typeface="Aptos"/>
                <a:ea typeface="Aptos"/>
                <a:cs typeface="Aptos"/>
              </a:rPr>
              <a:t>Session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8545F5-94FF-4C2C-9044-F91B4313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815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9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7F9FB"/>
                </a:solidFill>
                <a:latin typeface="Aptos"/>
                <a:ea typeface="Aptos"/>
                <a:cs typeface="Aptos"/>
              </a:rPr>
              <a:t>CX Solutions Cloud PM Team Quarterly Sync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9FBE9E-6DCC-439C-93C2-A7192D50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95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C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BCEB"/>
                </a:solidFill>
                <a:latin typeface="Aptos"/>
                <a:ea typeface="Aptos"/>
                <a:cs typeface="Aptos"/>
              </a:rPr>
              <a:t>Date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E44181-3CBB-4116-B69D-0F8EE043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153025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F9F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7F9FB"/>
                </a:solidFill>
                <a:latin typeface="Aptos"/>
                <a:ea typeface="Aptos"/>
                <a:cs typeface="Aptos"/>
              </a:rPr>
              <a:t>11 June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E3A2CC-B3E8-4503-A221-D8F6EEC5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510540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00BC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BCEB"/>
                </a:solidFill>
                <a:latin typeface="Aptos"/>
                <a:ea typeface="Aptos"/>
                <a:cs typeface="Aptos"/>
              </a:rPr>
              <a:t>Airtable MCP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F92B9A-FE3B-4901-85E4-0A35CDE1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44830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V2MOM visibility, governed access, faster reporting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DED43F-4FA6-41BE-8733-267D63D6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B2B3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B2B38"/>
                </a:solidFill>
                <a:latin typeface="Aptos"/>
                <a:ea typeface="Aptos"/>
                <a:cs typeface="Aptos"/>
              </a:rPr>
              <a:t>CX Solutions Cloud PM Team Quarterly Sync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4BEA51-BDD9-496E-8C80-EE19BEB9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34125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B2B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B2B38"/>
                </a:solidFill>
                <a:latin typeface="Aptos"/>
                <a:ea typeface="Aptos"/>
                <a:cs typeface="Aptos"/>
              </a:rPr>
              <a:t>Slide 01</a:t>
            </a:r>
          </a:p>
        </p:txBody>
      </p:sp>
    </p:spTree>
    <p:extLst>
      <p:ext uri="{BB962C8B-B14F-4D97-AF65-F5344CB8AC3E}">
        <p14:creationId xmlns:p14="http://schemas.microsoft.com/office/powerpoint/2010/main" val="177001156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890B89-74A6-4560-BDC3-05846738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522235-8A28-49F0-AE37-FBA0580B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4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1B6E1B-0C90-43A9-B762-277517D6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11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135D9D-A63C-4C97-84ED-B150B6F3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11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F9B36-6634-4CB7-B31C-601B1059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F08D85-3F44-48E7-BBE6-0234B0AF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5315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F0E76-456D-4EED-8C02-43598FA2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C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BCEB"/>
                </a:solidFill>
                <a:latin typeface="Aptos"/>
                <a:ea typeface="Aptos"/>
                <a:cs typeface="Aptos"/>
              </a:rPr>
              <a:t>What the Airtable MCP skill 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BBE9A2-C52D-47BC-A9A5-C8634CF0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971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7F9FB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F7F9FB"/>
                </a:solidFill>
                <a:latin typeface="Aptos Display"/>
                <a:ea typeface="Aptos Display"/>
                <a:cs typeface="Aptos Display"/>
              </a:rPr>
              <a:t>Secure Codex-Airtable Integration for Operational Reporting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3CE5EF-8827-4334-A1EF-CD59F0CC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971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Structured, permission-aware access to Airtable data for CX/V2MOM reporting and operational visibility.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C55ABA-143B-492D-8D81-15E3B225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B2B3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B2B38"/>
                </a:solidFill>
                <a:latin typeface="Aptos"/>
                <a:ea typeface="Aptos"/>
                <a:cs typeface="Aptos"/>
              </a:rPr>
              <a:t>CX Solutions Cloud PM Team Quarterly Sync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482158-C2C1-440C-999E-648F1231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34125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B2B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B2B38"/>
                </a:solidFill>
                <a:latin typeface="Aptos"/>
                <a:ea typeface="Aptos"/>
                <a:cs typeface="Aptos"/>
              </a:rPr>
              <a:t>Slide 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04E4BA-C842-4702-9351-EB572F74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6429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38"/>
          </a:solidFill>
          <a:ln xmlns:a="http://schemas.openxmlformats.org/drawingml/2006/main" w="9525">
            <a:solidFill>
              <a:srgbClr val="1F4D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11E5BB-D46F-4A3C-B316-B8E541D6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94B91E-A2DC-42D3-A0E9-90BC87D1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9775"/>
            <a:ext cx="590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The Airtable MCP skill is a Codex-enabled integration connected to Airtable's hosted MCP endpoint. It enables teams to extract, summarize, and validate operating data without manually navigating multiple bases, tables, or interface pages.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41608E-423F-4E61-A1B7-37B19ADC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6429375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38"/>
          </a:solidFill>
          <a:ln xmlns:a="http://schemas.openxmlformats.org/drawingml/2006/main" w="9525">
            <a:solidFill>
              <a:srgbClr val="1F4D6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15D757-29B1-4E10-BF63-507759FB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47625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44EF62-690B-4CB4-B144-014BD236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9FB"/>
                </a:solidFill>
                <a:latin typeface="Aptos"/>
                <a:ea typeface="Aptos"/>
                <a:cs typeface="Aptos"/>
              </a:rPr>
              <a:t>Key Characteristics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D81EC9-2916-45A8-A160-5C79D248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8592C5-FC10-4EDC-96B7-C09F35B2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33800"/>
            <a:ext cx="56007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Connects Codex with Airtable through the hosted MCP endpoint.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9FF186-BA0E-421E-817A-55222DBB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00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222289-16B1-4A4D-9F9C-6F571D92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24325"/>
            <a:ext cx="56007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Uses a local, pre-approved shared PAT/auth mechanism.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503B80-2649-477E-AC6A-01290901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153492-87B2-44B5-A26A-B21CB115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14850"/>
            <a:ext cx="56007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Operates within Airtable scopes, base access, and user/token permissions.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0FC94C-A2FD-4FE1-A754-F3549CEC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815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1744AF-BF34-43F8-98A7-6B3E7D3F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05375"/>
            <a:ext cx="56007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Best suited for CX/V2MOM status, risk, owners, comments, and FIRA-linked data.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B5B6F1-617D-4529-A0CE-8DC92A90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62150"/>
            <a:ext cx="3752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D49"/>
          </a:solidFill>
          <a:ln xmlns:a="http://schemas.openxmlformats.org/drawingml/2006/main" w="9525">
            <a:solidFill>
              <a:srgbClr val="1F4D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EE9CF1-6718-420F-8774-A98946C5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621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7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06B0B2-D453-415C-B29A-F8A9172C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85975"/>
            <a:ext cx="3295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C74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C744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D944AB-01A4-4129-A557-35ADAF0C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05050"/>
            <a:ext cx="32956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F7F9FB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F7F9FB"/>
                </a:solidFill>
                <a:latin typeface="Aptos"/>
                <a:ea typeface="Aptos"/>
                <a:cs typeface="Aptos"/>
              </a:rPr>
              <a:t>Provides a controlled and repeatable way to turn Airtable data into leadership-ready operational reporting, while preserving the same permissions and governance boundaries already in Airtable.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9B6137-F59E-42D1-8C98-5192E61F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33800"/>
            <a:ext cx="37528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D49"/>
          </a:solidFill>
          <a:ln xmlns:a="http://schemas.openxmlformats.org/drawingml/2006/main" w="9525">
            <a:solidFill>
              <a:srgbClr val="1F4D6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03DF82-99D9-47FD-9B20-0456CBCD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3380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D60323-6B59-4614-BB09-251353BA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57625"/>
            <a:ext cx="3295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BC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BCEB"/>
                </a:solidFill>
                <a:latin typeface="Aptos"/>
                <a:ea typeface="Aptos"/>
                <a:cs typeface="Aptos"/>
              </a:rPr>
              <a:t>Operating Boundary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5FB39B-3C51-4586-81C7-42B01DD0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76700"/>
            <a:ext cx="32956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F7F9FB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F7F9FB"/>
                </a:solidFill>
                <a:latin typeface="Aptos"/>
                <a:ea typeface="Aptos"/>
                <a:cs typeface="Aptos"/>
              </a:rPr>
              <a:t>Codex can help retrieve, summarize, and prepare changes. It should not bypass Airtable access controls, expose credentials, or write updates without an explicit review and approval step.</a:t>
            </a:r>
          </a:p>
        </p:txBody>
      </p:sp>
    </p:spTree>
    <p:extLst>
      <p:ext uri="{BB962C8B-B14F-4D97-AF65-F5344CB8AC3E}">
        <p14:creationId xmlns:p14="http://schemas.microsoft.com/office/powerpoint/2010/main" val="108364714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3F0D7D-C847-467E-BF9A-915B7BAD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380B79-FDB9-4CFB-BAFF-BDECBEB7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4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C0527B-6F5C-4933-BF8B-820DC20A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11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99A27-BEE3-46A5-99D0-2EB14657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11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EA57E1-139C-44AF-8569-CD8C9B21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85E08E-BCBA-49C7-AA5C-9DB50337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5315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BBDEFB-F6BE-41E9-AE80-D7E49C25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C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BCEB"/>
                </a:solidFill>
                <a:latin typeface="Aptos"/>
                <a:ea typeface="Aptos"/>
                <a:cs typeface="Aptos"/>
              </a:rPr>
              <a:t>Core capabilities of the Airtable MCP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BEADD6-6AB1-444F-9076-431AC4C2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971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7F9FB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F7F9FB"/>
                </a:solidFill>
                <a:latin typeface="Aptos Display"/>
                <a:ea typeface="Aptos Display"/>
                <a:cs typeface="Aptos Display"/>
              </a:rPr>
              <a:t>What the Skill Can 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181B8F-914B-4CDF-9CC5-8E4A9537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971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Faster discovery, retrieval, summarization, and controlled update preparation across approved Airtable assets.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91B53-39BC-4EC3-B7F1-91190AEB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B2B3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B2B38"/>
                </a:solidFill>
                <a:latin typeface="Aptos"/>
                <a:ea typeface="Aptos"/>
                <a:cs typeface="Aptos"/>
              </a:rPr>
              <a:t>CX Solutions Cloud PM Team Quarterly Sync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B77FE1-7C1D-40ED-A574-3122E0FC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34125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B2B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B2B38"/>
                </a:solidFill>
                <a:latin typeface="Aptos"/>
                <a:ea typeface="Aptos"/>
                <a:cs typeface="Aptos"/>
              </a:rPr>
              <a:t>Slide 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127D20-E084-4182-83D3-940319BA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048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38"/>
          </a:solidFill>
          <a:ln xmlns:a="http://schemas.openxmlformats.org/drawingml/2006/main" w="9525">
            <a:solidFill>
              <a:srgbClr val="1F4D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482490-3E7F-4DD8-B72D-251305EC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FC1D6F-63A9-46EB-AE83-98B4685D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459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9FB"/>
                </a:solidFill>
                <a:latin typeface="Aptos"/>
                <a:ea typeface="Aptos"/>
                <a:cs typeface="Aptos"/>
              </a:rPr>
              <a:t>Discover Airtable Assets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A13CC3-F6FE-460E-8AFD-34454854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4591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Identify accessible workspaces, bases, tables, fields, and select-list choices before querying data.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52E87F-D114-4CF8-821C-12335C662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52600"/>
            <a:ext cx="5048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38"/>
          </a:solidFill>
          <a:ln xmlns:a="http://schemas.openxmlformats.org/drawingml/2006/main" w="9525">
            <a:solidFill>
              <a:srgbClr val="1F4D6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FADA3C-6A57-482F-A925-3D811E72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5260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7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610603-9B90-4784-81C9-92967550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459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9FB"/>
                </a:solidFill>
                <a:latin typeface="Aptos"/>
                <a:ea typeface="Aptos"/>
                <a:cs typeface="Aptos"/>
              </a:rPr>
              <a:t>Read and Search Records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2774B9-BF39-48E2-A86E-9EE3F961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4591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Retrieve records across approved bases, tables, and Airtable Interface pages.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4B4894-A796-4F3F-9919-783E2DE7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5048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38"/>
          </a:solidFill>
          <a:ln xmlns:a="http://schemas.openxmlformats.org/drawingml/2006/main" w="9525">
            <a:solidFill>
              <a:srgbClr val="1F4D6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301758-9DB3-47A0-99C6-D3C9C008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7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38A606-3DE9-427E-B2DF-E9B65CC7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459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9FB"/>
                </a:solidFill>
                <a:latin typeface="Aptos"/>
                <a:ea typeface="Aptos"/>
                <a:cs typeface="Aptos"/>
              </a:rPr>
              <a:t>Summarize Operational Signals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235004-8C81-41EE-8267-DD76D6B7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6200"/>
            <a:ext cx="4591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Summarize status, stale updates, comments, linked records, owner views, and risk indicators.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5C799B-DACD-4EF1-9B7F-B9A52BAA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52800"/>
            <a:ext cx="5048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38"/>
          </a:solidFill>
          <a:ln xmlns:a="http://schemas.openxmlformats.org/drawingml/2006/main" w="9525">
            <a:solidFill>
              <a:srgbClr val="1F4D6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AC63A2-A381-4540-91AB-F12F6A23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5280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DD4B50-9F7B-4DEC-B8A4-0E3C4FB9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459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9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F9FB"/>
                </a:solidFill>
                <a:latin typeface="Aptos"/>
                <a:ea typeface="Aptos"/>
                <a:cs typeface="Aptos"/>
              </a:rPr>
              <a:t>Prepare Updates with Governance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705FE2-4FE6-4767-8908-17D63DF7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86200"/>
            <a:ext cx="4591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Draft record comments or updates through a dry-run and approval path before any write action.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20BE84-0427-4D8C-9AD8-D56CEA7C0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40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D49"/>
          </a:solidFill>
          <a:ln xmlns:a="http://schemas.openxmlformats.org/drawingml/2006/main" w="9525">
            <a:solidFill>
              <a:srgbClr val="1F4D6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190D3B-465C-4472-90A4-563DC939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7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FF8E7D-7C01-4145-804B-58382009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33975"/>
            <a:ext cx="9944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C74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C744"/>
                </a:solidFill>
                <a:latin typeface="Aptos"/>
                <a:ea typeface="Aptos"/>
                <a:cs typeface="Aptos"/>
              </a:rPr>
              <a:t>Governance Principle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A3D5F2-4A13-4964-8A70-47115EF6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9944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F7F9FB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F7F9FB"/>
                </a:solidFill>
                <a:latin typeface="Aptos"/>
                <a:ea typeface="Aptos"/>
                <a:cs typeface="Aptos"/>
              </a:rPr>
              <a:t>The MCP supports human-in-the-loop validation, ensuring that updates are reviewed before execution.</a:t>
            </a:r>
          </a:p>
        </p:txBody>
      </p:sp>
    </p:spTree>
    <p:extLst>
      <p:ext uri="{BB962C8B-B14F-4D97-AF65-F5344CB8AC3E}">
        <p14:creationId xmlns:p14="http://schemas.microsoft.com/office/powerpoint/2010/main" val="86974213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B9EF3C-835D-41A4-B043-ED9A8BA4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752929-40A7-40B5-A192-E143CC09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4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B947CB-716F-4EA3-8A33-6473F0F8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11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B9F02-E011-4077-9A0C-10A955E9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11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F3DD8-BEBB-49AA-92B2-1C5862D8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6FE6A-044A-4F2C-8E59-E54407C2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5315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103FE-013B-4630-9EF1-06245A14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C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BCEB"/>
                </a:solidFill>
                <a:latin typeface="Aptos"/>
                <a:ea typeface="Aptos"/>
                <a:cs typeface="Aptos"/>
              </a:rPr>
              <a:t>Strategic visibility into V2MOM execution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8E1B9F-2CEC-44FE-ABF9-37A4E51E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971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7F9FB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F7F9FB"/>
                </a:solidFill>
                <a:latin typeface="Aptos Display"/>
                <a:ea typeface="Aptos Display"/>
                <a:cs typeface="Aptos Display"/>
              </a:rPr>
              <a:t>From Manual Reporting to Business Intelligence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E2008-EC4C-4658-B8E2-98F02298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971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How Airtable MCP converts distributed V2MOM data into structured, leadership-ready insights.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FA3B10-0210-4EE7-86B6-DADF791E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B2B3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B2B38"/>
                </a:solidFill>
                <a:latin typeface="Aptos"/>
                <a:ea typeface="Aptos"/>
                <a:cs typeface="Aptos"/>
              </a:rPr>
              <a:t>CX Solutions Cloud PM Team Quarterly Sync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496707-1988-44CF-A933-3430BC1A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34125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B2B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B2B38"/>
                </a:solidFill>
                <a:latin typeface="Aptos"/>
                <a:ea typeface="Aptos"/>
                <a:cs typeface="Aptos"/>
              </a:rPr>
              <a:t>Slide 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180B81-F5E9-4B37-A5E9-3C23D215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103632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38"/>
          </a:solidFill>
          <a:ln xmlns:a="http://schemas.openxmlformats.org/drawingml/2006/main" w="9525">
            <a:solidFill>
              <a:srgbClr val="1F4D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1B4D76-5A86-43B3-9B90-607DDF86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47625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2D665F-1DDD-4016-B3F8-033A7DFDE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57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9F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7F9FB"/>
                </a:solidFill>
                <a:latin typeface="Aptos"/>
                <a:ea typeface="Aptos"/>
                <a:cs typeface="Aptos"/>
              </a:rPr>
              <a:t>What We Will Cover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847125-077F-493D-A859-FA40E06A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7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2E5FEE-DB17-47A5-A9E8-E6A539B8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14600"/>
            <a:ext cx="933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Leadership top-level view - extract and present V2MOM data at the top-level method view for leadership review.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00F5CD-5A45-4CE9-A063-B50C2319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7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CA858E-728B-4E81-B060-6EFA72C2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933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Holistic V2MOM data view - generate a complete view across values, methods, owners, statuses, and reporting dimensions.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D07F02-1FDF-486D-AFEB-3905643D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7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EBE98D-6393-4C6F-AE48-D93FB4F0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19500"/>
            <a:ext cx="933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Targeted data extraction - extract data specific to one or multiple H2 Values and Top-Level Methods.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8533D0-7211-414C-B207-64913E9F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C7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47E388-B219-475A-897A-A8B4657E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71950"/>
            <a:ext cx="933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Outcome-based reporting - filter outputs by user, reporting period, risk level, ownership, status, and operational dimensions.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2218B3-484B-429D-8261-BAA1B025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363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D49"/>
          </a:solidFill>
          <a:ln xmlns:a="http://schemas.openxmlformats.org/drawingml/2006/main" w="9525">
            <a:solidFill>
              <a:srgbClr val="1F4D6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69EDD4-6CA7-45D0-8D69-8C48C701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47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7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80B1EB-C312-4B94-883A-91D12653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43525"/>
            <a:ext cx="990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C74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C744"/>
                </a:solidFill>
                <a:latin typeface="Aptos"/>
                <a:ea typeface="Aptos"/>
                <a:cs typeface="Aptos"/>
              </a:rPr>
              <a:t>Strategic Value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A3EB60-D86E-4627-BC87-A04308D7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F7F9FB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F7F9FB"/>
                </a:solidFill>
                <a:latin typeface="Aptos"/>
                <a:ea typeface="Aptos"/>
                <a:cs typeface="Aptos"/>
              </a:rPr>
              <a:t>Enables faster leadership review, clearer risk visibility, and more consistent reporting across V2MOM execution.</a:t>
            </a:r>
          </a:p>
        </p:txBody>
      </p:sp>
    </p:spTree>
    <p:extLst>
      <p:ext uri="{BB962C8B-B14F-4D97-AF65-F5344CB8AC3E}">
        <p14:creationId xmlns:p14="http://schemas.microsoft.com/office/powerpoint/2010/main" val="137511917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BFBD14-F059-455A-866B-48356FAA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4E7486-CA0B-4FE3-BD88-8991D55E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4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FC53A-D9C2-487F-9B45-028D2D29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11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AB9A88-05E7-4207-98B8-4CCA9658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11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84001-824D-429E-AA60-037C2FD0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3D1193-FF3A-4ED8-B34D-BC478376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5315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C198C9-B1FD-40C9-9572-C35226D5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C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BCEB"/>
                </a:solidFill>
                <a:latin typeface="Aptos"/>
                <a:ea typeface="Aptos"/>
                <a:cs typeface="Aptos"/>
              </a:rPr>
              <a:t>Supported prompt framework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914B6F-8B1A-44A1-81A7-54F06D62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971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7F9FB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F7F9FB"/>
                </a:solidFill>
                <a:latin typeface="Aptos Display"/>
                <a:ea typeface="Aptos Display"/>
                <a:cs typeface="Aptos Display"/>
              </a:rPr>
              <a:t>Standard Prompts to Generate Airtable MCP Outputs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CD4C5F-DC11-45FA-A66F-0249E174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971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Prompts that extract, inspect, compare, and prepare Airtable data for reporting and governance.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0E89EF-B4C2-4D24-803E-5B48170E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B2B3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B2B38"/>
                </a:solidFill>
                <a:latin typeface="Aptos"/>
                <a:ea typeface="Aptos"/>
                <a:cs typeface="Aptos"/>
              </a:rPr>
              <a:t>CX Solutions Cloud PM Team Quarterly Sync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9A237B-7506-4173-B273-5F990445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34125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B2B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B2B38"/>
                </a:solidFill>
                <a:latin typeface="Aptos"/>
                <a:ea typeface="Aptos"/>
                <a:cs typeface="Aptos"/>
              </a:rPr>
              <a:t>Slide 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A97554-0127-4A33-8B69-1EEBC6DD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502920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38"/>
          </a:solidFill>
          <a:ln xmlns:a="http://schemas.openxmlformats.org/drawingml/2006/main" w="9525">
            <a:solidFill>
              <a:srgbClr val="1F4D6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835C00-E349-43D2-AACC-403ED50C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762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C7D542-A0C0-421F-9B0E-F3DED454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33550"/>
            <a:ext cx="502920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238"/>
          </a:solidFill>
          <a:ln xmlns:a="http://schemas.openxmlformats.org/drawingml/2006/main" w="9525">
            <a:solidFill>
              <a:srgbClr val="1F4D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5B09AF-FF10-4D31-A1ED-E557D914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33550"/>
            <a:ext cx="4762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7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7C73D2-0976-4112-81DC-B66741C9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467719-CA6E-414D-8ED0-21EB6A00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38350"/>
            <a:ext cx="4305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9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9FB"/>
                </a:solidFill>
                <a:latin typeface="Aptos"/>
                <a:ea typeface="Aptos"/>
                <a:cs typeface="Aptos"/>
              </a:rPr>
              <a:t>"Show me all Airtable bases and pages I can access, grouped by workspace."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7D360A-3163-4768-B455-7D1C3A39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103086-A2FE-4842-ABDD-7252C170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4305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9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9FB"/>
                </a:solidFill>
                <a:latin typeface="Aptos"/>
                <a:ea typeface="Aptos"/>
                <a:cs typeface="Aptos"/>
              </a:rPr>
              <a:t>"Inspect the CX FY26 V2MOM - NEW base and produce a table-by-table data dictionary."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45EB1F-A4FA-4CB5-9C92-2E9F578D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4A89B3-884D-45DD-91C8-04347469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4305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9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9FB"/>
                </a:solidFill>
                <a:latin typeface="Aptos"/>
                <a:ea typeface="Aptos"/>
                <a:cs typeface="Aptos"/>
              </a:rPr>
              <a:t>"Find all methods where Current Status is At Risk or Off Track, including latest commentary."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EC6D3C-D1CF-4710-90E8-D476B45A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CC326D-3DEA-46CC-B051-4ED45681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0"/>
            <a:ext cx="4305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9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9FB"/>
                </a:solidFill>
                <a:latin typeface="Aptos"/>
                <a:ea typeface="Aptos"/>
                <a:cs typeface="Aptos"/>
              </a:rPr>
              <a:t>"Show stale methods where no update has been captured in the latest reporting period."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4C728C-8BDD-4AC9-8BF7-BD54ADB3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4790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FB758B-C2C6-45F3-B291-7A810601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52650"/>
            <a:ext cx="4305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9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9FB"/>
                </a:solidFill>
                <a:latin typeface="Aptos"/>
                <a:ea typeface="Aptos"/>
                <a:cs typeface="Aptos"/>
              </a:rPr>
              <a:t>"Extract all FIRA-linked sub-methods and group them by H2 Value, status, and owner."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E2F8FB-27A1-4F25-AEDF-654833C2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4325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32B540-26B0-4449-997E-CE62FE53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48000"/>
            <a:ext cx="4305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9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9FB"/>
                </a:solidFill>
                <a:latin typeface="Aptos"/>
                <a:ea typeface="Aptos"/>
                <a:cs typeface="Aptos"/>
              </a:rPr>
              <a:t>"Compare current vs. previous status for all top-level methods and highlight changes."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A4901C-0944-4A16-81A7-A2C985E6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3860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517C37-FFF4-4A75-BCDC-27A7E24C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43350"/>
            <a:ext cx="4305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7F9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F9FB"/>
                </a:solidFill>
                <a:latin typeface="Aptos"/>
                <a:ea typeface="Aptos"/>
                <a:cs typeface="Aptos"/>
              </a:rPr>
              <a:t>"Prepare a dry-run update plan for these Airtable records, but do not write anything."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20A6EB-B11B-42D1-9753-92B6B8E4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382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D49"/>
          </a:solidFill>
          <a:ln xmlns:a="http://schemas.openxmlformats.org/drawingml/2006/main" w="9525">
            <a:solidFill>
              <a:srgbClr val="1F4D6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017506-82FD-44D3-B374-21890D80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47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468051-24DC-4CB1-90E6-97F8DF32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0225"/>
            <a:ext cx="9925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BC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BCEB"/>
                </a:solidFill>
                <a:latin typeface="Aptos"/>
                <a:ea typeface="Aptos"/>
                <a:cs typeface="Aptos"/>
              </a:rPr>
              <a:t>Positioning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D0ED9E-315E-48B6-A68B-FDB4F94C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9925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F7F9FB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F7F9FB"/>
                </a:solidFill>
                <a:latin typeface="Aptos"/>
                <a:ea typeface="Aptos"/>
                <a:cs typeface="Aptos"/>
              </a:rPr>
              <a:t>These prompts make Airtable data retrieval more consistent, repeatable, and leadership-ready.</a:t>
            </a:r>
          </a:p>
        </p:txBody>
      </p:sp>
    </p:spTree>
    <p:extLst>
      <p:ext uri="{BB962C8B-B14F-4D97-AF65-F5344CB8AC3E}">
        <p14:creationId xmlns:p14="http://schemas.microsoft.com/office/powerpoint/2010/main" val="115932167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53B71E-D8C2-4A21-A223-F33B344F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70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25C8F4-9D87-4024-8E78-3CBB99A6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42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E2D686-688F-4192-82EB-8797FE00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11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C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A5AD3-61D4-4B06-9AC5-811CF122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11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C3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5F7971-C572-4288-A422-0F789845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794365-8AE3-4DD7-883E-5605805B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5315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1D43CA-8D4F-44C7-A01E-ED5431D1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704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BC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BCEB"/>
                </a:solidFill>
                <a:latin typeface="Aptos"/>
                <a:ea typeface="Aptos"/>
                <a:cs typeface="Aptos"/>
              </a:rPr>
              <a:t>Airtable MCP capability matrix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55F703-F118-446B-A375-88465400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9715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7F9FB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F7F9FB"/>
                </a:solidFill>
                <a:latin typeface="Aptos Display"/>
                <a:ea typeface="Aptos Display"/>
                <a:cs typeface="Aptos Display"/>
              </a:rPr>
              <a:t>Functional Areas, Supported Actions, and Example Prompts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4CEB6-15E8-4B04-A09D-3FD983BF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52525"/>
            <a:ext cx="971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A quick operating view of the core actions that matter most for V2MOM visibility and governance.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E9C9AF-A573-44BE-9D52-2B8F63C5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B2B3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B2B38"/>
                </a:solidFill>
                <a:latin typeface="Aptos"/>
                <a:ea typeface="Aptos"/>
                <a:cs typeface="Aptos"/>
              </a:rPr>
              <a:t>CX Solutions Cloud PM Team Quarterly Sync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1EDA9D-5BC5-4C5E-AC42-92A2F080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34125"/>
            <a:ext cx="80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1B2B3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B2B38"/>
                </a:solidFill>
                <a:latin typeface="Aptos"/>
                <a:ea typeface="Aptos"/>
                <a:cs typeface="Aptos"/>
              </a:rPr>
              <a:t>Slide 06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978D58-576D-46D0-AB2F-8D2C5254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A5A"/>
          </a:solidFill>
          <a:ln xmlns:a="http://schemas.openxmlformats.org/drawingml/2006/main" w="9525">
            <a:solidFill>
              <a:srgbClr val="1A49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4729C7-41DF-4299-9FBF-446F9E83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F9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F9FB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24D527-D5D5-475B-A26E-F2AE8721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57350"/>
            <a:ext cx="3676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A5A"/>
          </a:solidFill>
          <a:ln xmlns:a="http://schemas.openxmlformats.org/drawingml/2006/main" w="9525">
            <a:solidFill>
              <a:srgbClr val="1A49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DF0DD9-9511-4878-92CD-E2BA6D64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33550"/>
            <a:ext cx="3486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F9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F9FB"/>
                </a:solidFill>
                <a:latin typeface="Aptos"/>
                <a:ea typeface="Aptos"/>
                <a:cs typeface="Aptos"/>
              </a:rPr>
              <a:t>What It Supports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3D15EA-22AF-4F32-8298-A2E84E71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57350"/>
            <a:ext cx="5295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A5A"/>
          </a:solidFill>
          <a:ln xmlns:a="http://schemas.openxmlformats.org/drawingml/2006/main" w="9525">
            <a:solidFill>
              <a:srgbClr val="1A496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C684BF-580B-4C42-BADD-4271B255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33550"/>
            <a:ext cx="510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F9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7F9FB"/>
                </a:solidFill>
                <a:latin typeface="Aptos"/>
                <a:ea typeface="Aptos"/>
                <a:cs typeface="Aptos"/>
              </a:rPr>
              <a:t>Example Prompt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7339EF-9609-4246-B547-ABA23F69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D"/>
          </a:solidFill>
          <a:ln xmlns:a="http://schemas.openxmlformats.org/drawingml/2006/main" w="9525">
            <a:solidFill>
              <a:srgbClr val="1A496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1F3C2C-3C2A-4144-837B-D8098B1E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F7F9FB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F7F9FB"/>
                </a:solidFill>
                <a:latin typeface="Aptos"/>
                <a:ea typeface="Aptos"/>
                <a:cs typeface="Aptos"/>
              </a:rPr>
              <a:t>Workspace Discovery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4CAB66-08AA-4FA7-A6EF-CF6B25AE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057400"/>
            <a:ext cx="3676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D"/>
          </a:solidFill>
          <a:ln xmlns:a="http://schemas.openxmlformats.org/drawingml/2006/main" w="9525">
            <a:solidFill>
              <a:srgbClr val="1A496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7979BC-FA42-4C89-A7D0-0D0F8B3D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33600"/>
            <a:ext cx="3486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Lists accessible workspaces and bases.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330B67-5F50-4E8D-BE30-3789BDB1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57400"/>
            <a:ext cx="5295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D"/>
          </a:solidFill>
          <a:ln xmlns:a="http://schemas.openxmlformats.org/drawingml/2006/main" w="9525">
            <a:solidFill>
              <a:srgbClr val="1A496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5F7300-0BD1-4725-AF94-A70DEBF8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33600"/>
            <a:ext cx="510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"Show me all Airtable workspaces and bases I can access."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24BD02-3C68-41B7-842F-1300EFCF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5270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33A"/>
          </a:solidFill>
          <a:ln xmlns:a="http://schemas.openxmlformats.org/drawingml/2006/main" w="9525">
            <a:solidFill>
              <a:srgbClr val="1A496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6A9E3A-3B3F-4401-B8F4-D397F27A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F7F9FB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F7F9FB"/>
                </a:solidFill>
                <a:latin typeface="Aptos"/>
                <a:ea typeface="Aptos"/>
                <a:cs typeface="Aptos"/>
              </a:rPr>
              <a:t>Base Discovery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2E740E-532B-4DBC-AF16-C3124E96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52700"/>
            <a:ext cx="3676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33A"/>
          </a:solidFill>
          <a:ln xmlns:a="http://schemas.openxmlformats.org/drawingml/2006/main" w="9525">
            <a:solidFill>
              <a:srgbClr val="1A49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1D762B-C2ED-40F0-9562-33FE4876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28900"/>
            <a:ext cx="3486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Searches bases by name or business topic.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2E3E7D-092C-4A06-A7E9-2E35C95B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52700"/>
            <a:ext cx="5295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33A"/>
          </a:solidFill>
          <a:ln xmlns:a="http://schemas.openxmlformats.org/drawingml/2006/main" w="9525">
            <a:solidFill>
              <a:srgbClr val="1A496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E47142-A51B-40A2-BCBD-1BC2E56B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28900"/>
            <a:ext cx="510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"Find bases related to V2MOM or roadmap."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9A6D8A-D59E-43C9-88BD-087C86E3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D"/>
          </a:solidFill>
          <a:ln xmlns:a="http://schemas.openxmlformats.org/drawingml/2006/main" w="9525">
            <a:solidFill>
              <a:srgbClr val="1A496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9DAE95-DD63-4F69-B558-9EB55383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F7F9FB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F7F9FB"/>
                </a:solidFill>
                <a:latin typeface="Aptos"/>
                <a:ea typeface="Aptos"/>
                <a:cs typeface="Aptos"/>
              </a:rPr>
              <a:t>Record Reads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6E45E5-C5C3-4FBF-A350-DE9B41FF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48000"/>
            <a:ext cx="3676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D"/>
          </a:solidFill>
          <a:ln xmlns:a="http://schemas.openxmlformats.org/drawingml/2006/main" w="9525">
            <a:solidFill>
              <a:srgbClr val="1A496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DAF39A-4850-4264-A690-AA6EC124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24200"/>
            <a:ext cx="3486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Reads records from accessible tables.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9850EC-3EC7-4340-BD86-DEE24F10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48000"/>
            <a:ext cx="5295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D"/>
          </a:solidFill>
          <a:ln xmlns:a="http://schemas.openxmlformats.org/drawingml/2006/main" w="9525">
            <a:solidFill>
              <a:srgbClr val="1A496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003EC1-DF0C-4BED-A223-FEA9BC3C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24200"/>
            <a:ext cx="510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"Show me records from the Method Top Level table with owner, status, and comments."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03BF5D-C4F6-4256-8BD7-9F46B29F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330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33A"/>
          </a:solidFill>
          <a:ln xmlns:a="http://schemas.openxmlformats.org/drawingml/2006/main" w="9525">
            <a:solidFill>
              <a:srgbClr val="1A496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856B62-ABC1-4391-93C3-D630A3D3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F7F9FB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F7F9FB"/>
                </a:solidFill>
                <a:latin typeface="Aptos"/>
                <a:ea typeface="Aptos"/>
                <a:cs typeface="Aptos"/>
              </a:rPr>
              <a:t>Record Search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51056E-F43E-4BE8-8A50-AED01A17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43300"/>
            <a:ext cx="3676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33A"/>
          </a:solidFill>
          <a:ln xmlns:a="http://schemas.openxmlformats.org/drawingml/2006/main" w="9525">
            <a:solidFill>
              <a:srgbClr val="1A496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2AD4FF-2314-4823-A76D-F082EA79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19500"/>
            <a:ext cx="3486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Searches records across accessible Airtable data.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468CE4-0B1E-4145-BB95-EA3FC9DC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43300"/>
            <a:ext cx="5295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33A"/>
          </a:solidFill>
          <a:ln xmlns:a="http://schemas.openxmlformats.org/drawingml/2006/main" w="9525">
            <a:solidFill>
              <a:srgbClr val="1A496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2A81AC-61EE-46DB-BFD5-70F496D1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19500"/>
            <a:ext cx="510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"Search for methods related to AI adoption or on-prem migration."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1B2AF99-B5E9-46F8-9418-63B2B1A8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3860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D"/>
          </a:solidFill>
          <a:ln xmlns:a="http://schemas.openxmlformats.org/drawingml/2006/main" w="9525">
            <a:solidFill>
              <a:srgbClr val="1A496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7B49948-A1D3-4838-925C-13E3829E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F7F9FB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F7F9FB"/>
                </a:solidFill>
                <a:latin typeface="Aptos"/>
                <a:ea typeface="Aptos"/>
                <a:cs typeface="Aptos"/>
              </a:rPr>
              <a:t>Interface/Page Access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2B1142C-4E3C-4422-9D0D-BA245D1A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038600"/>
            <a:ext cx="3676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D"/>
          </a:solidFill>
          <a:ln xmlns:a="http://schemas.openxmlformats.org/drawingml/2006/main" w="9525">
            <a:solidFill>
              <a:srgbClr val="1A496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9A04EBE-1B3B-4FAF-AA34-307FE973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114800"/>
            <a:ext cx="3486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Reads Airtable Interface pages where direct base access may be limited.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9F3B4D-9846-4621-91AC-DC2CA0F8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38600"/>
            <a:ext cx="5295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D"/>
          </a:solidFill>
          <a:ln xmlns:a="http://schemas.openxmlformats.org/drawingml/2006/main" w="9525">
            <a:solidFill>
              <a:srgbClr val="1A496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DF7725A-A4B4-495A-89CF-4A5C6F00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14800"/>
            <a:ext cx="510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"List pages available in this base and show records from the relevant page."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67CF770-8843-42E4-A49E-8F370D36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33A"/>
          </a:solidFill>
          <a:ln xmlns:a="http://schemas.openxmlformats.org/drawingml/2006/main" w="9525">
            <a:solidFill>
              <a:srgbClr val="1A496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D3F15D3-C0CA-40C4-8651-F11B6F97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F7F9FB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F7F9FB"/>
                </a:solidFill>
                <a:latin typeface="Aptos"/>
                <a:ea typeface="Aptos"/>
                <a:cs typeface="Aptos"/>
              </a:rPr>
              <a:t>Comments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FBF8062-D154-4175-BA15-FCB0C066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533900"/>
            <a:ext cx="3676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33A"/>
          </a:solidFill>
          <a:ln xmlns:a="http://schemas.openxmlformats.org/drawingml/2006/main" w="9525">
            <a:solidFill>
              <a:srgbClr val="1A496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3D9C143-8B4F-41DA-BA3C-44F806F2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610100"/>
            <a:ext cx="3486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Reads record comments and, where permitted, prepares comments.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D74C40F-676B-419D-890E-62C498A6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33900"/>
            <a:ext cx="5295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33A"/>
          </a:solidFill>
          <a:ln xmlns:a="http://schemas.openxmlformats.org/drawingml/2006/main" w="9525">
            <a:solidFill>
              <a:srgbClr val="1A496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0C974FA-6A87-4A66-B690-6B4CA445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10100"/>
            <a:ext cx="5105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DDE7F0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DDE7F0"/>
                </a:solidFill>
                <a:latin typeface="Aptos"/>
                <a:ea typeface="Aptos"/>
                <a:cs typeface="Aptos"/>
              </a:rPr>
              <a:t>"Show comments captured for this method with date and author where available."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9504263-01B9-4AC9-9A14-608565ED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0"/>
            <a:ext cx="111633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D49"/>
          </a:solidFill>
          <a:ln xmlns:a="http://schemas.openxmlformats.org/drawingml/2006/main" w="9525">
            <a:solidFill>
              <a:srgbClr val="1F4D6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7D05125-59EB-470D-AB51-755DDDDF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7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37DC539-F456-4C24-B680-07FDA103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62575"/>
            <a:ext cx="1070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7C74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7C744"/>
                </a:solidFill>
                <a:latin typeface="Aptos"/>
                <a:ea typeface="Aptos"/>
                <a:cs typeface="Aptos"/>
              </a:rPr>
              <a:t>Closing Message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607377B-32D6-4622-90E4-5EF90CF5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10706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F7F9FB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F7F9FB"/>
                </a:solidFill>
                <a:latin typeface="Aptos"/>
                <a:ea typeface="Aptos"/>
                <a:cs typeface="Aptos"/>
              </a:rPr>
              <a:t>The Airtable MCP provides a governed, scalable way to extract and summarize V2MOM data, improve reporting consistency, and support faster leadership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10575220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2026-06-10T15:54:06.9650000Z</dcterms:created>
  <dcterms:modified xsi:type="dcterms:W3CDTF">2026-06-10T15:54:06.9650000Z</dcterms:modified>
</coreProperties>
</file>